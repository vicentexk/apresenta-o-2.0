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0" r:id="rId22"/>
    <p:sldId id="271" r:id="rId23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Retomando o eye gate: mostramos o que evoluiu desde a última apresentação até a entrega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Onde paramos: gestão sem supervisor, câmera com erro sem diagnóstico, distribuição e publicação 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frentes fechadas nessa fase: hierarquia, câmera, instalador e publicação.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Implementamos a hierarquia exigida: usuário opera, supervisor bloqueia contas, administrador tem poder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Câmera: tentativa forçada por dispositivo, detecção de bloqueio por política (comum em PC de escola) e mensagens claras.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Instalador NSIS: atalhos com a logo, assistente em português e instalação por usuário, sem pedir senha de administrador.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Publicação completa: site no GitHub Pages, instalador na release e repositório com tudo — links obrigatórios entregues.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tabelas no Supabase, com Row Level Security e provisionamento por script idempotente.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inteiro nasce de um único script: setup-completo.sql. Ele cria tabelas, coluna de bloqueio, políticas RLS e a conta admin — é idempotente, à prova de erro e termina com uma verificação que deve dar tudo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de uso com os três atores e o include de registro — versão A4 acompanha o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LGPD por concepção: descriptor de 128 números, zero fotos, RLS no banco e site isolado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Raul liderou e estruturou o projeto; Vicente cuidou do suporte e do instalável; Mozer e Gian da documentação; Julio e Richard do feedback e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Fechamos a fase: identificação rápida, hierarquia completa e tudo publicado.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Obrigado! Repositório e site na tela. Ficamos à disposição.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 script na ordem: cria a estrutura, adiciona o bloqueio, define as regras RLS, cria a conta admin e termina com a verificação. É o mesmo arquivo único do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Políticas RLS: quem pode ler e gravar cada tabela é decidido pelo PostgreSQL, não pelo aplicativo. Mensagem-chave: mesmo com falha no app, o banco protege os dados. Conectar com o slide de LGPD.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bmp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0" y="0"/>
            <a:ext cx="2377440" cy="2377440"/>
          </a:xfrm>
          <a:prstGeom prst="pie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09960" y="0"/>
            <a:ext cx="1691640" cy="1691640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600000">
            <a:off x="0" y="5532120"/>
            <a:ext cx="1828800" cy="1325880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35640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09376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83112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30584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04320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35640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09376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83112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56848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30584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04320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35640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09376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83112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56848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30584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04320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35640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09376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83112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56848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246120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392424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3538728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685032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831336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85800"/>
            <a:ext cx="1463040" cy="1463040"/>
          </a:xfrm>
          <a:prstGeom prst="rect">
            <a:avLst/>
          </a:prstGeom>
        </p:spPr>
      </p:pic>
      <p:pic>
        <p:nvPicPr>
          <p:cNvPr id="36" name="Picture 35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554480"/>
            <a:ext cx="1234440" cy="12344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37560" y="1627632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6600" b="1" i="0">
                <a:solidFill>
                  <a:srgbClr val="17140F"/>
                </a:solidFill>
                <a:latin typeface="Space Grotesk"/>
              </a:rPr>
              <a:t>eye</a:t>
            </a:r>
            <a:r>
              <a:rPr sz="6600" b="1" i="0">
                <a:solidFill>
                  <a:srgbClr val="FE8826"/>
                </a:solidFill>
                <a:latin typeface="Space Grotesk"/>
              </a:rPr>
              <a:t>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17140F"/>
                </a:solidFill>
                <a:latin typeface="Space Grotesk"/>
              </a:rPr>
              <a:t>ATUALIZAÇÃO DO PROJETO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34340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0" i="1">
                <a:solidFill>
                  <a:srgbClr val="4A463C"/>
                </a:solidFill>
                <a:latin typeface="Space Grotesk"/>
              </a:rPr>
              <a:t>Fase final — evoluções do projeto até a entrega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5257800"/>
            <a:ext cx="3657600" cy="566928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525780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7F7EC"/>
                </a:solidFill>
                <a:latin typeface="Space Grotesk"/>
              </a:rPr>
              <a:t>TURMA 3CDS ·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525780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7140F"/>
                </a:solidFill>
                <a:latin typeface="Space Grotesk"/>
              </a:rPr>
              <a:t>Gian · Julio · Mozer · Raul · Richard · Vicente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01 / 16</a:t>
            </a:r>
          </a:p>
        </p:txBody>
      </p:sp>
      <p:sp>
        <p:nvSpPr>
          <p:cNvPr id="46" name="Oval 45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03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O PONTO DE 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800" b="1" i="0">
                <a:solidFill>
                  <a:srgbClr val="17140F"/>
                </a:solidFill>
                <a:latin typeface="Space Grotesk"/>
              </a:rPr>
              <a:t>Ponto de partida: protótipo funcional,</a:t>
            </a:r>
          </a:p>
          <a:p>
            <a:pPr algn="l">
              <a:spcAft>
                <a:spcPts val="100"/>
              </a:spcAft>
            </a:pPr>
            <a:r>
              <a:rPr sz="3800" b="1" i="0">
                <a:solidFill>
                  <a:srgbClr val="17140F"/>
                </a:solidFill>
                <a:latin typeface="Space Grotesk"/>
              </a:rPr>
              <a:t>porém incompleto.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91840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18211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Hierarquia incompleta (sem supervisor)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69080"/>
            <a:ext cx="256032" cy="256032"/>
          </a:xfrm>
          <a:prstGeom prst="ellipse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959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Falhas de câmera sem diagnóstico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46320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73659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Instalador e site ainda não publicados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02 / 16</a:t>
            </a:r>
          </a:p>
        </p:txBody>
      </p:sp>
      <p:sp>
        <p:nvSpPr>
          <p:cNvPr id="17" name="Oval 16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A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17140F"/>
                </a:solidFill>
                <a:latin typeface="Space Grotesk"/>
              </a:rPr>
              <a:t>Quatro frentes concluídas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128016" cy="155448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B21236"/>
                </a:solidFill>
                <a:latin typeface="Playfair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0720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17140F"/>
                </a:solidFill>
                <a:latin typeface="Space Grotesk"/>
              </a:rPr>
              <a:t>HIERARQUIA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3 níveis de acesso: usuário, supervisor e administrador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60604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128016" cy="155448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71576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FEB914"/>
                </a:solidFill>
                <a:latin typeface="Playfair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80720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17140F"/>
                </a:solidFill>
                <a:latin typeface="Space Grotesk"/>
              </a:rPr>
              <a:t>CÂMERA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Abertura forçada e diagnóstico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8912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389120"/>
            <a:ext cx="128016" cy="155448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9884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2C9FA2"/>
                </a:solidFill>
                <a:latin typeface="Playfair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9028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17140F"/>
                </a:solidFill>
                <a:latin typeface="Space Grotesk"/>
              </a:rPr>
              <a:t>INSTALADOR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Setup .exe com identidade visual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38912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389120"/>
            <a:ext cx="128016" cy="1554480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9884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F03812"/>
                </a:solidFill>
                <a:latin typeface="Playfair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59028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17140F"/>
                </a:solidFill>
                <a:latin typeface="Space Grotesk"/>
              </a:rPr>
              <a:t>PUBLICAÇÃO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Site, instalador e repositório públicos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03 / 16</a:t>
            </a:r>
          </a:p>
        </p:txBody>
      </p:sp>
      <p:sp>
        <p:nvSpPr>
          <p:cNvPr id="27" name="Oval 26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21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HIERARQUIA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Três níveis de acesso implementados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51760"/>
            <a:ext cx="128016" cy="105156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4206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B21236"/>
                </a:solidFill>
                <a:latin typeface="Space Grotesk"/>
              </a:rPr>
              <a:t>ADMINISTRADOR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651760"/>
            <a:ext cx="5760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0" i="0">
                <a:solidFill>
                  <a:srgbClr val="4A463C"/>
                </a:solidFill>
                <a:latin typeface="Space Grotesk"/>
              </a:rPr>
              <a:t>controle total do sistema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58768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858768"/>
            <a:ext cx="128016" cy="105156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58768"/>
            <a:ext cx="4206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2C9FA2"/>
                </a:solidFill>
                <a:latin typeface="Space Grotesk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858768"/>
            <a:ext cx="5760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0" i="0">
                <a:solidFill>
                  <a:srgbClr val="4A463C"/>
                </a:solidFill>
                <a:latin typeface="Space Grotesk"/>
              </a:rPr>
              <a:t>acompanha e bloqueia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065776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065776"/>
            <a:ext cx="128016" cy="105156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65776"/>
            <a:ext cx="4206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USUÁRIO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065776"/>
            <a:ext cx="5760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0" i="0">
                <a:solidFill>
                  <a:srgbClr val="4A463C"/>
                </a:solidFill>
                <a:latin typeface="Space Grotesk"/>
              </a:rPr>
              <a:t>opera a portaria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04 / 16</a:t>
            </a:r>
          </a:p>
        </p:txBody>
      </p:sp>
      <p:sp>
        <p:nvSpPr>
          <p:cNvPr id="23" name="Oval 22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8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CÂMERA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Diagnóstico de câmera</a:t>
            </a:r>
          </a:p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integrado ao aplicativo.</a:t>
            </a:r>
          </a:p>
        </p:txBody>
      </p:sp>
      <p:pic>
        <p:nvPicPr>
          <p:cNvPr id="8" name="Picture 7" descr="qa_diag_g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0"/>
            <a:ext cx="4937760" cy="307715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2834640"/>
            <a:ext cx="256032" cy="256032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06624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Abertura forçada da câmera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94760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66744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Identifica bloqueio por política do Windows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754880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626864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Correção guiada em português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623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4A463C"/>
                </a:solidFill>
                <a:latin typeface="Space Grotesk"/>
              </a:rPr>
              <a:t>painel de diagnóstico do aplicativo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05 / 16</a:t>
            </a:r>
          </a:p>
        </p:txBody>
      </p:sp>
      <p:sp>
        <p:nvSpPr>
          <p:cNvPr id="19" name="Oval 18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INSTALADOR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EyeGate-Setup.exe:</a:t>
            </a:r>
          </a:p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instalação simplificada.</a:t>
            </a:r>
          </a:p>
        </p:txBody>
      </p:sp>
      <p:pic>
        <p:nvPicPr>
          <p:cNvPr id="8" name="Picture 7" descr="wizard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71800"/>
            <a:ext cx="1599909" cy="30632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206240" y="2926080"/>
            <a:ext cx="256032" cy="256032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798064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Logo na barra e nos atalhos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3767328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39312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Assistente em português (NSIS)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0" y="4608576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4805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Sem senha de administrador</a:t>
            </a:r>
          </a:p>
        </p:txBody>
      </p:sp>
      <p:sp>
        <p:nvSpPr>
          <p:cNvPr id="15" name="Oval 14"/>
          <p:cNvSpPr/>
          <p:nvPr/>
        </p:nvSpPr>
        <p:spPr>
          <a:xfrm>
            <a:off x="4206240" y="5449824"/>
            <a:ext cx="256032" cy="256032"/>
          </a:xfrm>
          <a:prstGeom prst="ellipse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5321808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17140F"/>
                </a:solidFill>
                <a:latin typeface="Space Grotesk"/>
              </a:rPr>
              <a:t>Desinstalador no Painel de Controle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06 / 16</a:t>
            </a:r>
          </a:p>
        </p:txBody>
      </p:sp>
      <p:sp>
        <p:nvSpPr>
          <p:cNvPr id="20" name="Oval 19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03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PUBLICAÇÃO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800" b="1" i="0">
                <a:solidFill>
                  <a:srgbClr val="17140F"/>
                </a:solidFill>
                <a:latin typeface="Space Grotesk"/>
              </a:rPr>
              <a:t>Entrega pública e em operação.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128016" cy="105156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16352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SITE NO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16352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7140F"/>
                </a:solidFill>
                <a:latin typeface="Consolas"/>
              </a:rPr>
              <a:t>vicentexk.github.io/EYE_GATE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4A463C"/>
                </a:solidFill>
                <a:latin typeface="Space Grotesk"/>
              </a:rPr>
              <a:t>apresentação + suporte + download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50208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950208"/>
            <a:ext cx="128016" cy="105156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2336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INSTALADOR NA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02336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7140F"/>
                </a:solidFill>
                <a:latin typeface="Consolas"/>
              </a:rPr>
              <a:t>github.com/vicentexk/EYE_GATE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4A463C"/>
                </a:solidFill>
                <a:latin typeface="Space Grotesk"/>
              </a:rPr>
              <a:t>releases → EyeGate-Setup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57216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157216"/>
            <a:ext cx="128016" cy="105156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230368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CÓDIGO-FONTE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230368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7140F"/>
                </a:solidFill>
                <a:latin typeface="Consolas"/>
              </a:rPr>
              <a:t>github.com/vicentexk/EYE_GATE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4A463C"/>
                </a:solidFill>
                <a:latin typeface="Space Grotesk"/>
              </a:rPr>
              <a:t>frontend + backend + SQL + README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07 / 16</a:t>
            </a:r>
          </a:p>
        </p:txBody>
      </p:sp>
      <p:sp>
        <p:nvSpPr>
          <p:cNvPr id="23" name="Oval 22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B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7F7EC"/>
                </a:solidFill>
                <a:latin typeface="Space Grotesk"/>
              </a:rPr>
              <a:t>BANCO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PostgreSQL na nuvem,</a:t>
            </a:r>
          </a:p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com provisionamento automatizado.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2542032" cy="118872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7140F"/>
                </a:solidFill>
                <a:latin typeface="Consolas"/>
              </a:rPr>
              <a:t>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contas e bloqueio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3246120"/>
            <a:ext cx="2542032" cy="118872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7140F"/>
                </a:solidFill>
                <a:latin typeface="Consolas"/>
              </a:rPr>
              <a:t>admins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administradores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3246120"/>
            <a:ext cx="2542032" cy="118872"/>
          </a:xfrm>
          <a:prstGeom prst="rect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7140F"/>
                </a:solidFill>
                <a:latin typeface="Consolas"/>
              </a:rPr>
              <a:t>alunos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vetor facial (128 valores)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3246120"/>
            <a:ext cx="2542032" cy="118872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17140F"/>
                </a:solidFill>
                <a:latin typeface="Consolas"/>
              </a:rPr>
              <a:t>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registro de cada acesso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2C9FA2"/>
                </a:solidFill>
                <a:latin typeface="Space Grotesk"/>
              </a:rPr>
              <a:t>Row Level Security</a:t>
            </a:r>
            <a:r>
              <a:rPr sz="1800" b="0" i="0">
                <a:solidFill>
                  <a:srgbClr val="4A463C"/>
                </a:solidFill>
                <a:latin typeface="Space Grotesk"/>
              </a:rPr>
              <a:t>  ·  provisionamento repetível e seguro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08 / 16</a:t>
            </a:r>
          </a:p>
        </p:txBody>
      </p:sp>
      <p:sp>
        <p:nvSpPr>
          <p:cNvPr id="28" name="Oval 27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19456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SCRIPTS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Provisionamento do banco por 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6035040" cy="3977639"/>
          </a:xfrm>
          <a:prstGeom prst="rect">
            <a:avLst/>
          </a:prstGeom>
          <a:solidFill>
            <a:srgbClr val="17140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951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7F7EC"/>
                </a:solidFill>
                <a:latin typeface="Consolas"/>
              </a:rPr>
              <a:t>supabase/setup-completo.sql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2331720"/>
            <a:ext cx="146304" cy="146304"/>
          </a:xfrm>
          <a:prstGeom prst="ellipse">
            <a:avLst/>
          </a:prstGeom>
          <a:solidFill>
            <a:srgbClr val="F03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0" y="2203703"/>
            <a:ext cx="146304" cy="146304"/>
          </a:xfrm>
          <a:prstGeom prst="ellipse">
            <a:avLst/>
          </a:prstGeom>
          <a:solidFill>
            <a:srgbClr val="FEB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2935224"/>
            <a:ext cx="146304" cy="146304"/>
          </a:xfrm>
          <a:prstGeom prst="ellipse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679192"/>
            <a:ext cx="6035040" cy="1905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83464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8B8677"/>
                </a:solidFill>
                <a:latin typeface="Consolas"/>
              </a:rPr>
              <a:t>-- provisionamento completo do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09981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create table </a:t>
            </a:r>
            <a:r>
              <a:rPr sz="1150" b="1" i="0">
                <a:solidFill>
                  <a:srgbClr val="FEB914"/>
                </a:solidFill>
                <a:latin typeface="Consolas"/>
              </a:rPr>
              <a:t>if not exists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usuarios 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364992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F7F7EC"/>
                </a:solidFill>
                <a:latin typeface="Consolas"/>
              </a:rPr>
              <a:t>  id uuid primary key, nome text,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63016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F7F7EC"/>
                </a:solidFill>
                <a:latin typeface="Consolas"/>
              </a:rPr>
              <a:t>  email text unique, senha text,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95344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F7F7EC"/>
                </a:solidFill>
                <a:latin typeface="Consolas"/>
              </a:rPr>
              <a:t>  tipo text, bloqueado boolean);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6052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00" b="0" i="0">
                <a:solidFill>
                  <a:srgbClr val="F7F7EC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42569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alter table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usuarios add column </a:t>
            </a:r>
            <a:r>
              <a:rPr sz="1150" b="1" i="0">
                <a:solidFill>
                  <a:srgbClr val="FEB914"/>
                </a:solidFill>
                <a:latin typeface="Consolas"/>
              </a:rPr>
              <a:t>if not exists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bloqueado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690872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create policy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"usuarios_select"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95604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insert into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usuarios (email, tipo)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221224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  values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('professor@...', 'admin');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48640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00" b="0" i="0">
                <a:solidFill>
                  <a:srgbClr val="F7F7EC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75157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select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'usuarios.bloqueado', </a:t>
            </a:r>
            <a:r>
              <a:rPr sz="1150" b="1" i="0">
                <a:solidFill>
                  <a:srgbClr val="FEB914"/>
                </a:solidFill>
                <a:latin typeface="Consolas"/>
              </a:rPr>
              <a:t>true as ok</a:t>
            </a:r>
            <a:r>
              <a:rPr sz="1150" b="0" i="0">
                <a:solidFill>
                  <a:srgbClr val="8B8677"/>
                </a:solidFill>
                <a:latin typeface="Consolas"/>
              </a:rPr>
              <a:t>;  -- verificação: verdadeiro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3666744"/>
            <a:ext cx="274320" cy="274320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12140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Roda tudo no SQL Editor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4398264"/>
            <a:ext cx="274320" cy="274320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285292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Idempotente e repetível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5129783"/>
            <a:ext cx="274320" cy="274320"/>
          </a:xfrm>
          <a:prstGeom prst="ellipse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358444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Sem interrupções</a:t>
            </a:r>
          </a:p>
        </p:txBody>
      </p:sp>
      <p:sp>
        <p:nvSpPr>
          <p:cNvPr id="32" name="Oval 31"/>
          <p:cNvSpPr/>
          <p:nvPr/>
        </p:nvSpPr>
        <p:spPr>
          <a:xfrm>
            <a:off x="7178040" y="4745736"/>
            <a:ext cx="274320" cy="274320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431596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Verificação ao final</a:t>
            </a:r>
          </a:p>
        </p:txBody>
      </p:sp>
      <p:sp>
        <p:nvSpPr>
          <p:cNvPr id="34" name="Oval 33"/>
          <p:cNvSpPr/>
          <p:nvPr/>
        </p:nvSpPr>
        <p:spPr>
          <a:xfrm>
            <a:off x="7178040" y="5550408"/>
            <a:ext cx="274320" cy="274320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504748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Cria a conta de admin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09 / 16</a:t>
            </a:r>
          </a:p>
        </p:txBody>
      </p:sp>
      <p:sp>
        <p:nvSpPr>
          <p:cNvPr id="39" name="Oval 38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2C9FA2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300" b="1">
                <a:solidFill>
                  <a:srgbClr val="F7F7EC"/>
                </a:solidFill>
              </a:rPr>
              <a:t>SCRIPTS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A1A1A"/>
                </a:solidFill>
              </a:rPr>
              <a:t>O script em 5 passos.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183112" cy="12700"/>
          </a:xfrm>
          <a:prstGeom prst="rect">
            <a:avLst/>
          </a:prstGeom>
          <a:solidFill>
            <a:srgbClr val="D8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39165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D6A60"/>
                </a:solidFill>
              </a:rPr>
              <a:t>eye gate — TCC 2026 · Turma 3CDS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39165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900">
                <a:solidFill>
                  <a:srgbClr val="6D6A60"/>
                </a:solidFill>
              </a:rPr>
              <a:t>10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93392"/>
            <a:ext cx="107899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54864" bIns="54864"/>
          <a:lstStyle/>
          <a:p>
            <a:pPr algn="ctr"/>
            <a:r>
              <a:rPr sz="3400" b="1">
                <a:solidFill>
                  <a:srgbClr val="2C9FA2"/>
                </a:solidFill>
              </a:rPr>
              <a:t>1  </a:t>
            </a:r>
            <a:r>
              <a:rPr sz="3000" b="1">
                <a:solidFill>
                  <a:srgbClr val="1A1A1A"/>
                </a:solidFill>
              </a:rPr>
              <a:t>CREATE TABLE</a:t>
            </a:r>
            <a:r>
              <a:rPr sz="2600">
                <a:solidFill>
                  <a:srgbClr val="55524A"/>
                </a:solidFill>
              </a:rPr>
              <a:t>   cria as 4 tabelas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52928"/>
            <a:ext cx="107899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54864" bIns="54864"/>
          <a:lstStyle/>
          <a:p>
            <a:pPr algn="ctr"/>
            <a:r>
              <a:rPr sz="3400" b="1">
                <a:solidFill>
                  <a:srgbClr val="2C9FA2"/>
                </a:solidFill>
              </a:rPr>
              <a:t>2  </a:t>
            </a:r>
            <a:r>
              <a:rPr sz="3000" b="1">
                <a:solidFill>
                  <a:srgbClr val="1A1A1A"/>
                </a:solidFill>
              </a:rPr>
              <a:t>ALTER TABLE</a:t>
            </a:r>
            <a:r>
              <a:rPr sz="2600">
                <a:solidFill>
                  <a:srgbClr val="55524A"/>
                </a:solidFill>
              </a:rPr>
              <a:t>   coluna de bloqueio de contas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12464"/>
            <a:ext cx="107899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54864" bIns="54864"/>
          <a:lstStyle/>
          <a:p>
            <a:pPr algn="ctr"/>
            <a:r>
              <a:rPr sz="3400" b="1">
                <a:solidFill>
                  <a:srgbClr val="2C9FA2"/>
                </a:solidFill>
              </a:rPr>
              <a:t>3  </a:t>
            </a:r>
            <a:r>
              <a:rPr sz="3000" b="1">
                <a:solidFill>
                  <a:srgbClr val="1A1A1A"/>
                </a:solidFill>
              </a:rPr>
              <a:t>CREATE POLICY</a:t>
            </a:r>
            <a:r>
              <a:rPr sz="2600">
                <a:solidFill>
                  <a:srgbClr val="55524A"/>
                </a:solidFill>
              </a:rPr>
              <a:t>   regras de acesso (RLS)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107899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54864" bIns="54864"/>
          <a:lstStyle/>
          <a:p>
            <a:pPr algn="ctr"/>
            <a:r>
              <a:rPr sz="3400" b="1">
                <a:solidFill>
                  <a:srgbClr val="2C9FA2"/>
                </a:solidFill>
              </a:rPr>
              <a:t>4  </a:t>
            </a:r>
            <a:r>
              <a:rPr sz="3000" b="1">
                <a:solidFill>
                  <a:srgbClr val="1A1A1A"/>
                </a:solidFill>
              </a:rPr>
              <a:t>INSERT</a:t>
            </a:r>
            <a:r>
              <a:rPr sz="2600">
                <a:solidFill>
                  <a:srgbClr val="55524A"/>
                </a:solidFill>
              </a:rPr>
              <a:t>   conta de admin da escola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431536"/>
            <a:ext cx="107899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54864" bIns="54864"/>
          <a:lstStyle/>
          <a:p>
            <a:pPr algn="ctr"/>
            <a:r>
              <a:rPr sz="3400" b="1">
                <a:solidFill>
                  <a:srgbClr val="2C9FA2"/>
                </a:solidFill>
              </a:rPr>
              <a:t>5  </a:t>
            </a:r>
            <a:r>
              <a:rPr sz="3000" b="1">
                <a:solidFill>
                  <a:srgbClr val="1A1A1A"/>
                </a:solidFill>
              </a:rPr>
              <a:t>SELECT</a:t>
            </a:r>
            <a:r>
              <a:rPr sz="2600">
                <a:solidFill>
                  <a:srgbClr val="55524A"/>
                </a:solidFill>
              </a:rPr>
              <a:t>   verificação final: tudo TRUE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2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B21236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300" b="1">
                <a:solidFill>
                  <a:srgbClr val="F7F7EC"/>
                </a:solidFill>
              </a:rPr>
              <a:t>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A1A1A"/>
                </a:solidFill>
              </a:rPr>
              <a:t>Segurança aplicada pelo banco.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183112" cy="12700"/>
          </a:xfrm>
          <a:prstGeom prst="rect">
            <a:avLst/>
          </a:prstGeom>
          <a:solidFill>
            <a:srgbClr val="D8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39165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D6A60"/>
                </a:solidFill>
              </a:rPr>
              <a:t>eye gate — TCC 2026 · Turma 3CDS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39165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900">
                <a:solidFill>
                  <a:srgbClr val="6D6A60"/>
                </a:solidFill>
              </a:rPr>
              <a:t>11 / 16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258568"/>
            <a:ext cx="256032" cy="256032"/>
          </a:xfrm>
          <a:prstGeom prst="ellipse">
            <a:avLst/>
          </a:prstGeom>
          <a:solidFill>
            <a:srgbClr val="2C9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1A1A1A"/>
                </a:solidFill>
              </a:rPr>
              <a:t>Regras de acesso definidas dentro do PostgreSQL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99816"/>
            <a:ext cx="256032" cy="256032"/>
          </a:xfrm>
          <a:prstGeom prst="ellipse">
            <a:avLst/>
          </a:prstGeom>
          <a:solidFill>
            <a:srgbClr val="F06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27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1A1A1A"/>
                </a:solidFill>
              </a:rPr>
              <a:t>Mesmo se o app falhar, os dados continuam protegidos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41064"/>
            <a:ext cx="256032" cy="256032"/>
          </a:xfrm>
          <a:prstGeom prst="ellipse">
            <a:avLst/>
          </a:prstGeom>
          <a:solidFill>
            <a:srgbClr val="B2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51376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1A1A1A"/>
                </a:solidFill>
              </a:rPr>
              <a:t>Acesso ao mínimo necessário — base para a LGPD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104241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B21236"/>
                </a:solidFill>
              </a:rPr>
              <a:t>4/4 </a:t>
            </a:r>
            <a:r>
              <a:rPr sz="2800">
                <a:solidFill>
                  <a:srgbClr val="1A1A1A"/>
                </a:solidFill>
              </a:rPr>
              <a:t>  tabelas com Row Level Security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7F7EC"/>
                </a:solidFill>
                <a:latin typeface="Space Grotesk"/>
              </a:rPr>
              <a:t>MODELAGEM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Diagrama de caso de uso</a:t>
            </a:r>
          </a:p>
        </p:txBody>
      </p:sp>
      <p:pic>
        <p:nvPicPr>
          <p:cNvPr id="8" name="Picture 7" descr="caso-de-uso-eye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2943327" cy="416052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160520" y="2377440"/>
            <a:ext cx="256032" cy="256032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Usuário, supervisor e administrador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3429000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401568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0" i="0">
                <a:solidFill>
                  <a:srgbClr val="17140F"/>
                </a:solidFill>
                <a:latin typeface="Space Grotesk"/>
              </a:rPr>
              <a:t>Todo acesso registra entrada e saída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4480560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608576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0" i="0">
                <a:solidFill>
                  <a:srgbClr val="17140F"/>
                </a:solidFill>
                <a:latin typeface="Space Grotesk"/>
              </a:rPr>
              <a:t>Versão A4 no documento do TCC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12 / 16</a:t>
            </a:r>
          </a:p>
        </p:txBody>
      </p:sp>
      <p:sp>
        <p:nvSpPr>
          <p:cNvPr id="18" name="Oval 17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21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LGPD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B21236"/>
                </a:solidFill>
                <a:latin typeface="Space Grotesk"/>
              </a:rPr>
              <a:t>Privacidade por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0" i="0">
                <a:solidFill>
                  <a:srgbClr val="4A463C"/>
                </a:solidFill>
                <a:latin typeface="Space Grotesk"/>
              </a:rPr>
              <a:t>A imagem facial é convertida em vetores numéricos — nunca armazenada.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401568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3401568" cy="128016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17140F"/>
                </a:solidFill>
                <a:latin typeface="Playfair Display"/>
              </a:rP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3401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4A463C"/>
                </a:solidFill>
                <a:latin typeface="Space Grotesk"/>
              </a:rPr>
              <a:t>valores por rosto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3566160"/>
            <a:ext cx="3401568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3566160"/>
            <a:ext cx="3401568" cy="128016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384048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17140F"/>
                </a:solidFill>
                <a:latin typeface="Playfair Display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4892040"/>
            <a:ext cx="3401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4A463C"/>
                </a:solidFill>
                <a:latin typeface="Space Grotesk"/>
              </a:rPr>
              <a:t>fotos armazenadas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3566160"/>
            <a:ext cx="3401568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3566160"/>
            <a:ext cx="3401568" cy="128016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856" y="384048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17140F"/>
                </a:solidFill>
                <a:latin typeface="Playfair Display"/>
              </a:rPr>
              <a:t>RLS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4892040"/>
            <a:ext cx="3401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4A463C"/>
                </a:solidFill>
                <a:latin typeface="Space Grotesk"/>
              </a:rPr>
              <a:t>proteção no banco de dados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13 / 16</a:t>
            </a:r>
          </a:p>
        </p:txBody>
      </p:sp>
      <p:sp>
        <p:nvSpPr>
          <p:cNvPr id="24" name="Oval 23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8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Equipe e responsabilidades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3383280" cy="109728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04872"/>
            <a:ext cx="1152144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58568" y="236829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F03812"/>
                </a:solidFill>
                <a:latin typeface="Space Grotesk"/>
              </a:rPr>
              <a:t>RAUL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Líder e estruturador do projeto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3383280" cy="109728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c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04872"/>
            <a:ext cx="1152144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70448" y="236829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2C9FA2"/>
                </a:solidFill>
                <a:latin typeface="Space Grotesk"/>
              </a:rPr>
              <a:t>VICENTE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Suporte e produção do instalável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14884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148840"/>
            <a:ext cx="3383280" cy="109728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z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404872"/>
            <a:ext cx="1152144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82328" y="236829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17140F"/>
                </a:solidFill>
                <a:latin typeface="Space Grotesk"/>
              </a:rPr>
              <a:t>MOZER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Documentação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1480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14800"/>
            <a:ext cx="3383280" cy="109728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i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70832"/>
            <a:ext cx="1152144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58568" y="433425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17140F"/>
                </a:solidFill>
                <a:latin typeface="Space Grotesk"/>
              </a:rPr>
              <a:t>GIAN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Documentação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11480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383280" cy="109728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ul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370832"/>
            <a:ext cx="1152144" cy="1371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70448" y="433425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2C9FA2"/>
                </a:solidFill>
                <a:latin typeface="Space Grotesk"/>
              </a:rPr>
              <a:t>JULIO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Feedback e revisão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11480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4114800"/>
            <a:ext cx="3383280" cy="109728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ich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4370832"/>
            <a:ext cx="1152144" cy="1371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82328" y="433425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B21236"/>
                </a:solidFill>
                <a:latin typeface="Space Grotesk"/>
              </a:rPr>
              <a:t>RICHARD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Feedback e revisão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14 / 16</a:t>
            </a:r>
          </a:p>
        </p:txBody>
      </p:sp>
      <p:sp>
        <p:nvSpPr>
          <p:cNvPr id="35" name="Oval 34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B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17140F"/>
                </a:solidFill>
                <a:latin typeface="Space Grotesk"/>
              </a:rPr>
              <a:t>Do protótipo ao</a:t>
            </a:r>
          </a:p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B21236"/>
                </a:solidFill>
                <a:latin typeface="Space Grotesk"/>
              </a:rPr>
              <a:t>sistema entregue.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2542032" cy="128016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&lt; 1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4A463C"/>
                </a:solidFill>
                <a:latin typeface="Space Grotesk"/>
              </a:rPr>
              <a:t>para identificar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3383280"/>
            <a:ext cx="2542032" cy="128016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4A463C"/>
                </a:solidFill>
                <a:latin typeface="Space Grotesk"/>
              </a:rPr>
              <a:t>níveis de acesso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3383280"/>
            <a:ext cx="2542032" cy="128016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4A463C"/>
                </a:solidFill>
                <a:latin typeface="Space Grotesk"/>
              </a:rPr>
              <a:t>módulos do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3383280"/>
            <a:ext cx="2542032" cy="128016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4A463C"/>
                </a:solidFill>
                <a:latin typeface="Space Grotesk"/>
              </a:rPr>
              <a:t>entrega publicada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15 / 16</a:t>
            </a:r>
          </a:p>
        </p:txBody>
      </p:sp>
      <p:sp>
        <p:nvSpPr>
          <p:cNvPr id="27" name="Oval 26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0" y="0"/>
            <a:ext cx="2011680" cy="2011680"/>
          </a:xfrm>
          <a:prstGeom prst="pi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"/>
            <a:ext cx="1554480" cy="1554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55096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28832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2568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0040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28832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02568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6304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50040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1360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55096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28832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02568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76304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50040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81360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55096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28832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02568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76304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50040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2926080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072384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3218688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364992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511296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132588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200" b="1" i="0">
                <a:solidFill>
                  <a:srgbClr val="17140F"/>
                </a:solidFill>
                <a:latin typeface="Playfair Display"/>
              </a:rPr>
              <a:t>Obrigado!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743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0" i="1">
                <a:solidFill>
                  <a:srgbClr val="4A463C"/>
                </a:solidFill>
                <a:latin typeface="Space Grotesk"/>
              </a:rPr>
              <a:t>Perguntas e demonstração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7947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21236"/>
                </a:solidFill>
                <a:latin typeface="Space Grotesk"/>
              </a:rPr>
              <a:t>EQUIPE — TURMA 3CDS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Gian  ·  Julio  ·  Mozer  ·  Raul  ·  Richard  ·  Vicente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github.com/vicentexk/EYE_GATE  ·  vicentexk.github.io/EYE_GATE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7140F"/>
                </a:solidFill>
                <a:latin typeface="Space Grotesk"/>
              </a:rPr>
              <a:t>eye gate — ©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16 / 16</a:t>
            </a:r>
          </a:p>
        </p:txBody>
      </p:sp>
      <p:sp>
        <p:nvSpPr>
          <p:cNvPr id="44" name="Oval 43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